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3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6" y="-354"/>
      </p:cViewPr>
      <p:guideLst/>
    </p:cSldViewPr>
  </p:slideViewPr>
  <p:notesTextViewPr>
    <p:cViewPr>
      <p:scale>
        <a:sx n="1" d="1"/>
        <a:sy n="1" d="1"/>
      </p:scale>
      <p:origin x="0" y="-13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37BFB-710A-479F-A136-B10E8FB558F9}" type="datetimeFigureOut">
              <a:rPr lang="hu-HU" smtClean="0"/>
              <a:t>2026. 01. 17.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9D7A79-E305-46E1-B335-0BE137F8F20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5719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Az IPv4 nem hoz létre előzetes kapcsolatot, nem garantálja a csomagok megérkezését, sorrendjét vagy sértetlenségét, hanem egyszerűen a leggyorsabb úton továbbítja őket, mint egy forró krumplit (hot potato-elv).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9D7A79-E305-46E1-B335-0BE137F8F207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899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5EFDE-98B8-03FA-D783-6A57109A0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D5C502-F995-E5B9-B8C6-1CE0FE9439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405E93-9F97-27E0-8218-4893831D7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353BF-C956-D030-8A22-B001530D1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9D7A79-E305-46E1-B335-0BE137F8F207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40410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EF87E-E917-1668-8708-DE9C1BFA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68ADC0-F02D-631C-0C12-CFF2B26CF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D29D5-77A5-E480-AB47-BA3389BDB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b="1" dirty="0"/>
              <a:t>Leggyakoribb érték: IHL 5:</a:t>
            </a:r>
            <a:r>
              <a:rPr lang="hu-HU" dirty="0"/>
              <a:t> 5 x 4 = </a:t>
            </a:r>
            <a:r>
              <a:rPr lang="hu-HU" b="1" dirty="0"/>
              <a:t>20 byte</a:t>
            </a:r>
            <a:r>
              <a:rPr lang="hu-HU" dirty="0"/>
              <a:t> (a legtöbb csomag ilyen). </a:t>
            </a:r>
          </a:p>
          <a:p>
            <a:r>
              <a:rPr lang="hu-HU" b="1" dirty="0"/>
              <a:t>Maximum: IHL  15:</a:t>
            </a:r>
            <a:r>
              <a:rPr lang="hu-HU" dirty="0"/>
              <a:t> 15 x 4 = </a:t>
            </a:r>
            <a:r>
              <a:rPr lang="hu-HU" b="1" dirty="0"/>
              <a:t>60 byte</a:t>
            </a:r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FC34B-4D8D-2DE2-0997-F771BD075A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9D7A79-E305-46E1-B335-0BE137F8F207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5712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F4856-6D69-B0DC-C0D3-334255B81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0A506-8CBD-59DD-4DBF-E5CF15AD4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3364AA-89F8-8524-9168-DC2610619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Minden router levesz egyet</a:t>
            </a:r>
          </a:p>
          <a:p>
            <a:r>
              <a:rPr lang="hu-HU" dirty="0"/>
              <a:t>Ha 0 lesz eldobja a router</a:t>
            </a:r>
          </a:p>
          <a:p>
            <a:r>
              <a:rPr lang="hu-HU" dirty="0"/>
              <a:t>Megakadályozza, hogy egy rosszul konfigurált csomag örökké keringjen a hálózaton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25B5E-C3D0-178C-3E16-2FEF6FE4BF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9D7A79-E305-46E1-B335-0BE137F8F207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13620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27F82-3398-5A7A-D8B1-B680D232E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A17302-C3FF-0D6A-543B-D66652BC3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4DA36C-B370-5D68-BD3A-D4300BAC2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TCP (web, email, fájlátvitel – megbízható)</a:t>
            </a:r>
          </a:p>
          <a:p>
            <a:r>
              <a:rPr lang="hu-HU" dirty="0"/>
              <a:t>UDP (gyors, videó, játékok – nincs garancia) </a:t>
            </a:r>
          </a:p>
          <a:p>
            <a:r>
              <a:rPr lang="hu-HU" dirty="0"/>
              <a:t>ICMP (ping, traceroute, hibajelzések)</a:t>
            </a:r>
          </a:p>
          <a:p>
            <a:r>
              <a:rPr lang="hu-HU" dirty="0"/>
              <a:t>OSPF (routing protokoll)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DA2AF-C410-4DB0-8C5D-FB568F2CEF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9D7A79-E305-46E1-B335-0BE137F8F207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03241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47174-5D22-398D-A4F2-74AB7CE1D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1AA69-3E95-0C33-0EE1-842CDD69FB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B408FD-C575-133B-1D88-085428E8F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Minden router ezt nézi meg, és ennek alapján dönti el, hogy merre továbbítsa a csomagot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F5422-51BB-1E69-F109-FE716EF77F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9D7A79-E305-46E1-B335-0BE137F8F207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05667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7DCC0-F530-B270-523F-8BC822F01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3E1A53-20BE-70B2-90AB-1399656FD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FB51F-0CC7-4C07-1E54-0A7CA3E89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(2 byte-os)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>
                <a:effectLst/>
              </a:rPr>
              <a:t>A küldő kiszámolja a header összes bitjét egy speciális algoritmussal</a:t>
            </a:r>
          </a:p>
          <a:p>
            <a:r>
              <a:rPr lang="hu-HU" dirty="0">
                <a:effectLst/>
              </a:rPr>
              <a:t>A fogadó vagy pl egy router újra kiszámolja ugyanazt.</a:t>
            </a:r>
          </a:p>
          <a:p>
            <a:r>
              <a:rPr lang="hu-HU" dirty="0">
                <a:effectLst/>
              </a:rPr>
              <a:t>Ha nem ugyan az akkor a header sérült és eldobja</a:t>
            </a:r>
          </a:p>
          <a:p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82DE4-6536-E2F9-7293-D838E9128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9D7A79-E305-46E1-B335-0BE137F8F207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69725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EE889-56A0-D29C-80EA-013545E9F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E0C954-1C74-1088-E420-74ABFBFEA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1DEA25-6D9F-832C-C4CC-032178BF8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4DA1B-99E2-7495-C49C-76BDA5C34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9D7A79-E305-46E1-B335-0BE137F8F207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544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33C3-CBDF-4836-A177-4E8981DE76A3}" type="datetimeFigureOut">
              <a:rPr lang="hu-HU" smtClean="0"/>
              <a:t>2026. 01. 17.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D2362-D066-4960-A54C-EF8CF4CFFB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07341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33C3-CBDF-4836-A177-4E8981DE76A3}" type="datetimeFigureOut">
              <a:rPr lang="hu-HU" smtClean="0"/>
              <a:t>2026. 01. 17.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D2362-D066-4960-A54C-EF8CF4CFFB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74213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33C3-CBDF-4836-A177-4E8981DE76A3}" type="datetimeFigureOut">
              <a:rPr lang="hu-HU" smtClean="0"/>
              <a:t>2026. 01. 17.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D2362-D066-4960-A54C-EF8CF4CFFB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4442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33C3-CBDF-4836-A177-4E8981DE76A3}" type="datetimeFigureOut">
              <a:rPr lang="hu-HU" smtClean="0"/>
              <a:t>2026. 01. 17.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D2362-D066-4960-A54C-EF8CF4CFFB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76114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33C3-CBDF-4836-A177-4E8981DE76A3}" type="datetimeFigureOut">
              <a:rPr lang="hu-HU" smtClean="0"/>
              <a:t>2026. 01. 17.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D2362-D066-4960-A54C-EF8CF4CFFB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565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33C3-CBDF-4836-A177-4E8981DE76A3}" type="datetimeFigureOut">
              <a:rPr lang="hu-HU" smtClean="0"/>
              <a:t>2026. 01. 17.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D2362-D066-4960-A54C-EF8CF4CFFB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33768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33C3-CBDF-4836-A177-4E8981DE76A3}" type="datetimeFigureOut">
              <a:rPr lang="hu-HU" smtClean="0"/>
              <a:t>2026. 01. 17.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D2362-D066-4960-A54C-EF8CF4CFFB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6375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33C3-CBDF-4836-A177-4E8981DE76A3}" type="datetimeFigureOut">
              <a:rPr lang="hu-HU" smtClean="0"/>
              <a:t>2026. 01. 17.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D2362-D066-4960-A54C-EF8CF4CFFB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437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33C3-CBDF-4836-A177-4E8981DE76A3}" type="datetimeFigureOut">
              <a:rPr lang="hu-HU" smtClean="0"/>
              <a:t>2026. 01. 17.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D2362-D066-4960-A54C-EF8CF4CFFB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0017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33C3-CBDF-4836-A177-4E8981DE76A3}" type="datetimeFigureOut">
              <a:rPr lang="hu-HU" smtClean="0"/>
              <a:t>2026. 01. 17.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D2362-D066-4960-A54C-EF8CF4CFFB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27370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33C3-CBDF-4836-A177-4E8981DE76A3}" type="datetimeFigureOut">
              <a:rPr lang="hu-HU" smtClean="0"/>
              <a:t>2026. 01. 17.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D2362-D066-4960-A54C-EF8CF4CFFB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31589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E9E133C3-CBDF-4836-A177-4E8981DE76A3}" type="datetimeFigureOut">
              <a:rPr lang="hu-HU" smtClean="0"/>
              <a:t>2026. 01. 17.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C9D2362-D066-4960-A54C-EF8CF4CFFB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590719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061C80-90D3-9052-1C47-E32BEDFBE6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hu-HU" sz="4800" dirty="0">
                <a:solidFill>
                  <a:srgbClr val="FFFFFF"/>
                </a:solidFill>
              </a:rPr>
              <a:t>Internet Protocol version 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DFD9B7-A97E-A703-484E-2C1E5FE46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 numCol="1">
            <a:normAutofit/>
          </a:bodyPr>
          <a:lstStyle/>
          <a:p>
            <a:pPr algn="l"/>
            <a:r>
              <a:rPr lang="hu-HU" dirty="0">
                <a:solidFill>
                  <a:srgbClr val="FFFFFF"/>
                </a:solidFill>
              </a:rPr>
              <a:t>Ács Zétény</a:t>
            </a:r>
          </a:p>
        </p:txBody>
      </p:sp>
    </p:spTree>
    <p:extLst>
      <p:ext uri="{BB962C8B-B14F-4D97-AF65-F5344CB8AC3E}">
        <p14:creationId xmlns:p14="http://schemas.microsoft.com/office/powerpoint/2010/main" val="1829013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948E4549-797D-A5BE-D158-592245ECD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31" y="1487999"/>
            <a:ext cx="5943269" cy="1514109"/>
          </a:xfrm>
        </p:spPr>
        <p:txBody>
          <a:bodyPr>
            <a:normAutofit/>
          </a:bodyPr>
          <a:lstStyle/>
          <a:p>
            <a:r>
              <a:rPr lang="hu-HU" b="1" dirty="0"/>
              <a:t>IPv4 a hálózati rétegben</a:t>
            </a:r>
            <a:br>
              <a:rPr lang="hu-HU" dirty="0"/>
            </a:br>
            <a:endParaRPr lang="hu-HU" dirty="0"/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5E8492A5-5D0B-0FAE-E160-6490549CC5C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65024" y="2766448"/>
            <a:ext cx="858382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altLang="hu-H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32 bit címzés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hu-HU" altLang="hu-HU" sz="2800" dirty="0">
                <a:latin typeface="Arial" panose="020B0604020202020204" pitchFamily="34" charset="0"/>
              </a:rPr>
              <a:t>Connectionless &amp; best-effort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sz="2800" dirty="0"/>
              <a:t> Csomag = header + payload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6454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41BE72-8272-E48F-2869-4172F97A7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76E04B54-3ECD-D2F7-81FC-65F2DB2A3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-28099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Header </a:t>
            </a:r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felépítése</a:t>
            </a:r>
            <a:b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14A6D329-8396-D084-9CCA-7DB39551159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17124" y="1896386"/>
            <a:ext cx="8583825" cy="4078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hu-HU" altLang="hu-HU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Főbb header mezők</a:t>
            </a:r>
            <a:endParaRPr kumimoji="0" lang="hu-HU" altLang="hu-HU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hu-HU" altLang="hu-HU" sz="2800" dirty="0">
                <a:latin typeface="Arial" panose="020B0604020202020204" pitchFamily="34" charset="0"/>
              </a:rPr>
              <a:t>IHL</a:t>
            </a:r>
            <a:endParaRPr lang="hu-HU" altLang="hu-HU" sz="2800"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TTL</a:t>
            </a:r>
            <a:endParaRPr kumimoji="0" lang="hu-HU" altLang="hu-HU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hu-HU" altLang="hu-HU" sz="2800" dirty="0">
                <a:latin typeface="Arial" panose="020B0604020202020204" pitchFamily="34" charset="0"/>
              </a:rPr>
              <a:t>Protocol</a:t>
            </a:r>
            <a:endParaRPr lang="hu-HU" altLang="hu-HU" sz="2800"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 IP és Destination IP</a:t>
            </a:r>
            <a:endParaRPr kumimoji="0" lang="hu-HU" altLang="hu-HU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hu-HU" altLang="hu-HU" sz="2800" dirty="0">
                <a:latin typeface="Arial" panose="020B0604020202020204" pitchFamily="34" charset="0"/>
              </a:rPr>
              <a:t>Header Checksum</a:t>
            </a:r>
            <a:endParaRPr kumimoji="0" lang="hu-HU" altLang="hu-HU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hu-HU" altLang="hu-HU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AutoShape 2" descr="IPv4 Packet Header">
            <a:extLst>
              <a:ext uri="{FF2B5EF4-FFF2-40B4-BE49-F238E27FC236}">
                <a16:creationId xmlns:a16="http://schemas.microsoft.com/office/drawing/2014/main" id="{ABAEFE0E-A29D-6013-0E62-A7341CF3DC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983376" cy="4983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A2CD80-06DD-1423-64EA-582170391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092" y="2556934"/>
            <a:ext cx="5541815" cy="321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7725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83648E-F6B0-7F6B-45E8-826EFBCE5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6F55339A-E218-275E-D4D0-2BE51CD1A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2EBC86F-7A26-7AD2-4090-1DF229AC9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BE696D8-72A1-E901-F08B-78150D5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38B5F97-A0B2-A1B5-DAD1-BBD827314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1C91DC4-6C1C-F7B9-D199-761D5F95F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56C0B54-5078-B008-7CAC-4110BD292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AE4C25F-B66D-DE45-D159-37535F4B9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DDFF2C7D-806A-82BD-CA89-021F4AAE4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708113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 altLang="hu-HU" sz="4800" dirty="0">
                <a:latin typeface="Arial" panose="020B0604020202020204" pitchFamily="34" charset="0"/>
              </a:rPr>
              <a:t>Internet Header Lenght</a:t>
            </a:r>
            <a:br>
              <a:rPr lang="hu-HU" altLang="hu-HU" sz="4800" dirty="0">
                <a:latin typeface="Arial" panose="020B0604020202020204" pitchFamily="34" charset="0"/>
              </a:rPr>
            </a:br>
            <a:b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A9AE385-74F3-4AE6-7B92-8FB115231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723DEEC9-A82C-BDBB-226C-B88E07F752E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97445" y="2743477"/>
            <a:ext cx="10615525" cy="349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hu-HU" altLang="hu-H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Méret: 4 bit (értéke 0-tól 15-ig terjedhet).</a:t>
            </a:r>
          </a:p>
          <a:p>
            <a:pPr marL="571500" indent="-571500" defTabSz="9144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3200" dirty="0"/>
              <a:t>Megmutatja az IPv4 header hosszát 32-bites szavakban</a:t>
            </a:r>
          </a:p>
          <a:p>
            <a:pPr marL="571500" indent="-571500" defTabSz="9144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3200" dirty="0"/>
              <a:t>Egy „szó” 32 bit tehát 4byte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hu-HU" altLang="hu-HU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hu-HU" altLang="hu-HU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73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46B3F-09F7-6C94-5425-630DF0AF2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CD9F17AE-AF74-C67F-9185-75D4D707C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DD5E464-1546-2A03-7B2E-D23029419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487C44B-73C6-068C-AC3F-CAD4D7C0E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DBBFD85-AC9D-A504-53C1-F4BCE1F1F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7D1BEFB-7E08-E4C2-7B88-E8B7AF60A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A2C3685-86EC-903C-D960-53192961B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498095B-FA13-DC47-4573-583C01EBA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DDDE2B59-328A-F497-3D70-310469919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509852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 altLang="hu-HU" sz="4800" dirty="0">
                <a:latin typeface="Arial" panose="020B0604020202020204" pitchFamily="34" charset="0"/>
              </a:rPr>
              <a:t>TTL (Time to Live)</a:t>
            </a:r>
            <a:br>
              <a:rPr lang="hu-HU" altLang="hu-HU" sz="4800" dirty="0">
                <a:latin typeface="Arial" panose="020B0604020202020204" pitchFamily="34" charset="0"/>
              </a:rPr>
            </a:br>
            <a:b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CEEF749-020E-5534-2143-0DFA7A0DD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38E7E406-F731-2E7D-E277-831E03E2D58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97445" y="2367890"/>
            <a:ext cx="10615525" cy="5201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hu-HU" altLang="hu-H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Méret: 8 bit (értéke 0-tól </a:t>
            </a:r>
            <a:r>
              <a:rPr lang="hu-HU" altLang="hu-HU" sz="3200" dirty="0">
                <a:latin typeface="Arial" panose="020B0604020202020204" pitchFamily="34" charset="0"/>
              </a:rPr>
              <a:t>255</a:t>
            </a: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-ig terjedhet).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hu-HU" altLang="hu-HU" sz="3200" dirty="0">
                <a:latin typeface="Arial" panose="020B0604020202020204" pitchFamily="34" charset="0"/>
              </a:rPr>
              <a:t>Meg mutatja hogy hány  „ugrást” bír ki még a csomag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küldő gép beállít egy kezdeti értéket</a:t>
            </a:r>
          </a:p>
          <a:p>
            <a:pPr marL="1028700" lvl="1" indent="-571500" defTabSz="9144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altLang="hu-HU" sz="3200" dirty="0">
                <a:latin typeface="Arial" panose="020B0604020202020204" pitchFamily="34" charset="0"/>
              </a:rPr>
              <a:t>Windows-on általában 128</a:t>
            </a:r>
          </a:p>
          <a:p>
            <a:pPr marL="1028700" lvl="1" indent="-571500" defTabSz="9144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Linux-on általában 64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endParaRPr lang="hu-HU" sz="3200" dirty="0"/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hu-HU" altLang="hu-HU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hu-HU" altLang="hu-HU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5268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336F3C-EEC9-C97C-4A22-5C43305D6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73FFCD8-5339-D8EF-61B5-6D0F1D9DF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C19CC4C-2D21-7C97-5633-1B584AD85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C58BF1B-DF80-9F64-B85C-6B449D3B6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6C7CF31-476A-9CC1-9F5E-D69E353A6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D451849-504C-E0BD-50AC-151560F17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8EAAF29-9CF8-A4D0-7B75-75A75ABA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2C33E83-A332-60BC-DC3F-B1C8C0369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470855A7-ADE5-195B-037D-E9D3439BD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509852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 altLang="hu-HU" sz="4800" dirty="0">
                <a:latin typeface="Arial" panose="020B0604020202020204" pitchFamily="34" charset="0"/>
              </a:rPr>
              <a:t>Protocol</a:t>
            </a:r>
            <a:br>
              <a:rPr lang="hu-HU" altLang="hu-HU" sz="4800" dirty="0">
                <a:latin typeface="Arial" panose="020B0604020202020204" pitchFamily="34" charset="0"/>
              </a:rPr>
            </a:br>
            <a:b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1F7DB34-6BE2-F3FD-3A5C-BE14979C1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587456A5-9F9E-648A-54FC-A8E360AC848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20330" y="2099196"/>
            <a:ext cx="10615525" cy="2231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hu-HU" altLang="hu-H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pt-BR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Protocol mező egy 8 bites (1 byte-os)</a:t>
            </a:r>
            <a:endParaRPr kumimoji="0" lang="hu-HU" altLang="hu-H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hu-HU" altLang="hu-HU" sz="3200" dirty="0">
                <a:latin typeface="Arial" panose="020B0604020202020204" pitchFamily="34" charset="0"/>
              </a:rPr>
              <a:t>Ez a csomag „cimkéje”</a:t>
            </a:r>
          </a:p>
          <a:p>
            <a:pPr marL="1028700" lvl="1" indent="-571500" defTabSz="9144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Megmondja milyen protocol van a Data</a:t>
            </a:r>
            <a:r>
              <a:rPr lang="hu-HU" altLang="hu-HU" sz="3200" dirty="0">
                <a:latin typeface="Arial" panose="020B0604020202020204" pitchFamily="34" charset="0"/>
              </a:rPr>
              <a:t> részben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AEDBE4-4FFE-C9F1-D114-CD13CB23372B}"/>
              </a:ext>
            </a:extLst>
          </p:cNvPr>
          <p:cNvSpPr txBox="1"/>
          <p:nvPr/>
        </p:nvSpPr>
        <p:spPr>
          <a:xfrm>
            <a:off x="1020330" y="4480039"/>
            <a:ext cx="101010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hu-HU" sz="3600" dirty="0"/>
              <a:t>TCP		6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hu-HU" sz="3600" dirty="0"/>
              <a:t>UDP	17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hu-HU" sz="3600" dirty="0"/>
              <a:t>ICMP	1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hu-HU" sz="3600" dirty="0"/>
              <a:t>OSPF	89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016022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F09378-BB05-9FC0-72E0-4B962B0E8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7A262197-FF63-84BF-3690-E23673C34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2E648B1-9C96-0808-CF28-AEDBDD190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93443B1-EBB0-F32D-8F0A-4352E17DA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BA4F8A2-1D71-632D-492B-B92192D6D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62833AF-8BF8-FBC1-83F3-6CF2038035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8483A9F-254E-6B3B-C148-F9877722C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44B9481-A10A-E1B9-AF30-BB2E5BA7DC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D49AA3DF-627D-88A1-927F-804B0BE37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509852"/>
            <a:ext cx="6714699" cy="317868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fr-FR" sz="4800" dirty="0"/>
              <a:t>Source IP </a:t>
            </a:r>
            <a:r>
              <a:rPr lang="fr-FR" sz="4800" dirty="0" err="1"/>
              <a:t>és</a:t>
            </a:r>
            <a:r>
              <a:rPr lang="fr-FR" sz="4800" dirty="0"/>
              <a:t> Destination IP</a:t>
            </a:r>
            <a:br>
              <a:rPr lang="fr-FR" sz="4800" dirty="0"/>
            </a:br>
            <a:br>
              <a:rPr lang="hu-HU" altLang="hu-HU" sz="4800" dirty="0">
                <a:latin typeface="Arial" panose="020B0604020202020204" pitchFamily="34" charset="0"/>
              </a:rPr>
            </a:br>
            <a:b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DD22A5B-2CD2-7859-21BA-3EAA2D4B83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D9D662C3-3B0B-AE35-9B81-899A651F10D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87125" y="1680974"/>
            <a:ext cx="10615525" cy="4816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hu-HU" altLang="hu-H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3600" b="1" dirty="0"/>
              <a:t>Source IP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3600" dirty="0"/>
              <a:t>Ez a küldő IP-je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3600" dirty="0"/>
              <a:t>32 bit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hu-HU" altLang="hu-HU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Destination IP</a:t>
            </a:r>
          </a:p>
          <a:p>
            <a:pPr marL="1028700" lvl="1" indent="-571500" defTabSz="9144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hu-HU" altLang="hu-HU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Ez a címzett IP-je</a:t>
            </a:r>
          </a:p>
          <a:p>
            <a:pPr marL="1028700" lvl="1" indent="-571500" defTabSz="9144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altLang="hu-HU" sz="3200" dirty="0">
                <a:latin typeface="Arial" panose="020B0604020202020204" pitchFamily="34" charset="0"/>
              </a:rPr>
              <a:t>Szintén 32 bit</a:t>
            </a:r>
            <a:endParaRPr kumimoji="0" lang="hu-HU" altLang="hu-HU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hu-HU" altLang="hu-HU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6941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F091DD-835F-2A97-BE35-F4B541A03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4CD2EC24-FF19-765F-A71C-E33F20E63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9CD32C2-22A1-1C60-B051-ABFE924C0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6BCF2B1-5E94-54BD-A5EB-9117372C0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0B2CE51-D537-E02B-A8EB-BBAAE8CAA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E2A924B-5D94-21FC-CF48-7EE537E0B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94B3458-5CAE-2E48-CDEE-F56F47B3F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8F6A7AD-E87B-AF0A-5462-896A0D96E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E168171F-12FF-8123-E485-5528C062E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509853"/>
            <a:ext cx="6714699" cy="121042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 sz="4800" dirty="0"/>
              <a:t>Header Checksum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41017FD-FCE7-C7ED-093F-C5B6C9394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CCA5436E-00AC-520B-D780-46363CD3107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38481" y="1887893"/>
            <a:ext cx="1061552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hu-HU" altLang="hu-H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hu-HU" altLang="hu-H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16 bit (2 byte)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hu-HU" altLang="hu-HU" sz="3600" dirty="0">
                <a:latin typeface="Arial" panose="020B0604020202020204" pitchFamily="34" charset="0"/>
              </a:rPr>
              <a:t>Ez egy hibadetektáló kód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lang="hu-HU" altLang="hu-HU" sz="36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hu-HU" altLang="hu-HU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3254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98B1CA-BB4A-0205-6ED0-DBBD237DA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6FE7A201-7D6C-B2BA-412D-B2512C467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42AE6AB-641D-A524-271A-A539F329F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6F8736C-6E2B-97BB-F2CF-F47792BFE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AD00E65-1719-13DC-A36B-B1B812AA6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7D11139-4148-3248-BEE5-7C52F6DB2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C6E1364-4363-46ED-EAA6-71CA01D67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E66042D-8116-743C-EC28-BC338818F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0A685F35-EC0C-5F07-7F55-8267D3CA6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970" y="2406076"/>
            <a:ext cx="6422060" cy="1177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hu-HU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Köszönöm a figyelmet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9E27003-8468-CD94-B8C9-A02E79B71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725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</TotalTime>
  <Words>371</Words>
  <Application>Microsoft Office PowerPoint</Application>
  <PresentationFormat>Widescreen</PresentationFormat>
  <Paragraphs>73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Internet Protocol version 4</vt:lpstr>
      <vt:lpstr>IPv4 a hálózati rétegben </vt:lpstr>
      <vt:lpstr>Header felépítése </vt:lpstr>
      <vt:lpstr>Internet Header Lenght  </vt:lpstr>
      <vt:lpstr>TTL (Time to Live)  </vt:lpstr>
      <vt:lpstr>Protocol  </vt:lpstr>
      <vt:lpstr>Source IP és Destination IP   </vt:lpstr>
      <vt:lpstr>Header Checksum</vt:lpstr>
      <vt:lpstr>Köszönöm a figyelmet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acs zeteny</dc:creator>
  <cp:lastModifiedBy>acs zeteny</cp:lastModifiedBy>
  <cp:revision>1</cp:revision>
  <dcterms:created xsi:type="dcterms:W3CDTF">2026-01-17T16:08:56Z</dcterms:created>
  <dcterms:modified xsi:type="dcterms:W3CDTF">2026-01-17T18:36:01Z</dcterms:modified>
</cp:coreProperties>
</file>